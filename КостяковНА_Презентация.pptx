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17"/>
  </p:notesMasterIdLst>
  <p:handoutMasterIdLst>
    <p:handoutMasterId r:id="rId18"/>
  </p:handoutMasterIdLst>
  <p:sldIdLst>
    <p:sldId id="1171" r:id="rId4"/>
    <p:sldId id="1126" r:id="rId5"/>
    <p:sldId id="1173" r:id="rId6"/>
    <p:sldId id="1097" r:id="rId7"/>
    <p:sldId id="1172" r:id="rId8"/>
    <p:sldId id="1102" r:id="rId9"/>
    <p:sldId id="1185" r:id="rId10"/>
    <p:sldId id="1201" r:id="rId11"/>
    <p:sldId id="1202" r:id="rId12"/>
    <p:sldId id="1203" r:id="rId13"/>
    <p:sldId id="1199" r:id="rId14"/>
    <p:sldId id="1200" r:id="rId15"/>
    <p:sldId id="1197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173"/>
            <p14:sldId id="1097"/>
            <p14:sldId id="1172"/>
            <p14:sldId id="1102"/>
            <p14:sldId id="1185"/>
            <p14:sldId id="1201"/>
            <p14:sldId id="1202"/>
            <p14:sldId id="1203"/>
            <p14:sldId id="1199"/>
            <p14:sldId id="1200"/>
            <p14:sldId id="11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0520" autoAdjust="0"/>
  </p:normalViewPr>
  <p:slideViewPr>
    <p:cSldViewPr snapToGrid="0" snapToObjects="1">
      <p:cViewPr>
        <p:scale>
          <a:sx n="66" d="100"/>
          <a:sy n="66" d="100"/>
        </p:scale>
        <p:origin x="1776" y="9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AE6-45A5-97EF-962D68680C5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4A4-411E-992B-DBEC57F81BB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AE6-45A5-97EF-962D68680C5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AE6-45A5-97EF-962D68680C5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AE6-45A5-97EF-962D68680C5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AE6-45A5-97EF-962D68680C5D}"/>
              </c:ext>
            </c:extLst>
          </c:dPt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Sheet1!$A$2:$A$7</c:f>
              <c:strCache>
                <c:ptCount val="6"/>
                <c:pt idx="0">
                  <c:v>Проектирование</c:v>
                </c:pt>
                <c:pt idx="1">
                  <c:v>Кодинг</c:v>
                </c:pt>
                <c:pt idx="2">
                  <c:v>Админ-инструменты</c:v>
                </c:pt>
                <c:pt idx="3">
                  <c:v>Тестирование</c:v>
                </c:pt>
                <c:pt idx="4">
                  <c:v>Документация</c:v>
                </c:pt>
                <c:pt idx="5">
                  <c:v>Деплой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12000</c:v>
                </c:pt>
                <c:pt idx="1">
                  <c:v>90000</c:v>
                </c:pt>
                <c:pt idx="2">
                  <c:v>22500</c:v>
                </c:pt>
                <c:pt idx="3">
                  <c:v>15000</c:v>
                </c:pt>
                <c:pt idx="4">
                  <c:v>7500</c:v>
                </c:pt>
                <c:pt idx="5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A4-411E-992B-DBEC57F81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4738806675320826"/>
          <c:y val="0"/>
          <c:w val="0.70076570710348252"/>
          <c:h val="0.192067276787627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25.05.2025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172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0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94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37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информационной системы онлайн-торгов коллекционными монетами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Костяков Никита Андреевич, 4134к</a:t>
            </a:r>
            <a:br>
              <a:rPr lang="ru-RU" dirty="0"/>
            </a:br>
            <a:r>
              <a:rPr lang="ru-RU" dirty="0"/>
              <a:t>Колесникова Светлана Ивановна - Руководитель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18374" y="5993952"/>
            <a:ext cx="3488540" cy="387798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lvl="5"/>
            <a:r>
              <a:rPr lang="ru-RU" sz="2400" dirty="0"/>
              <a:t>Существующие площадки не удовлетворяют требованиям предметной области</a:t>
            </a:r>
          </a:p>
          <a:p>
            <a:pPr lvl="5"/>
            <a:r>
              <a:rPr lang="ru-RU" sz="2400" dirty="0"/>
              <a:t>Отсутствует автоматизация ключевых процессов</a:t>
            </a:r>
          </a:p>
          <a:p>
            <a:pPr lvl="5"/>
            <a:r>
              <a:rPr lang="ru-RU" sz="2400" dirty="0"/>
              <a:t>Информация рассредаточена в разных местах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93A51E0-594E-4829-B37D-2694C1C3ED60}"/>
              </a:ext>
            </a:extLst>
          </p:cNvPr>
          <p:cNvSpPr txBox="1">
            <a:spLocks/>
          </p:cNvSpPr>
          <p:nvPr/>
        </p:nvSpPr>
        <p:spPr>
          <a:xfrm>
            <a:off x="6456362" y="4065973"/>
            <a:ext cx="5184775" cy="23157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+mj-lt"/>
              <a:buAutoNum type="arabi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B60824-26B5-4EE6-B0B5-862E5E10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604" y="1236420"/>
            <a:ext cx="5332956" cy="53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Цели и задачи </a:t>
            </a:r>
          </a:p>
        </p:txBody>
      </p:sp>
      <p:pic>
        <p:nvPicPr>
          <p:cNvPr id="16" name="Picture 15" descr="A screen shot of a computer&#10;&#10;Description automatically generated">
            <a:extLst>
              <a:ext uri="{FF2B5EF4-FFF2-40B4-BE49-F238E27FC236}">
                <a16:creationId xmlns:a16="http://schemas.microsoft.com/office/drawing/2014/main" id="{AF5B5D5D-63ED-4C39-B251-34317F154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383" y="1145116"/>
            <a:ext cx="8009474" cy="530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85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Архитектура системы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F422A-6821-4921-AEF6-038CE0C43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714" y="1026173"/>
            <a:ext cx="8873479" cy="583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Функциональность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6B35D4-E087-4353-8616-7636771D8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278" y="1653309"/>
            <a:ext cx="6979609" cy="46227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9C6818-ABCA-E499-26C2-6C3E9CA7C62F}"/>
              </a:ext>
            </a:extLst>
          </p:cNvPr>
          <p:cNvSpPr txBox="1"/>
          <p:nvPr/>
        </p:nvSpPr>
        <p:spPr>
          <a:xfrm>
            <a:off x="267855" y="1505527"/>
            <a:ext cx="39993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участия в торгах, необходима дополнительная функциональность: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Авторизация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Инструменты администрирования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Просмотр лотов и участие</a:t>
            </a:r>
          </a:p>
        </p:txBody>
      </p:sp>
    </p:spTree>
    <p:extLst>
      <p:ext uri="{BB962C8B-B14F-4D97-AF65-F5344CB8AC3E}">
        <p14:creationId xmlns:p14="http://schemas.microsoft.com/office/powerpoint/2010/main" val="264521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Безопасность 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 numCol="1">
            <a:normAutofit/>
          </a:bodyPr>
          <a:lstStyle/>
          <a:p>
            <a:pPr lvl="0"/>
            <a:endParaRPr lang="ru-RU" sz="1800" dirty="0">
              <a:solidFill>
                <a:schemeClr val="tx1"/>
              </a:solidFill>
            </a:endParaRPr>
          </a:p>
          <a:p>
            <a:pPr lvl="0"/>
            <a:endParaRPr lang="ru-RU" sz="18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8E6D6F-AB7F-411E-B627-78BED1888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321" y="1684909"/>
            <a:ext cx="6572817" cy="43533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6C2161-93E4-6C3F-9067-EDA99B1846A4}"/>
              </a:ext>
            </a:extLst>
          </p:cNvPr>
          <p:cNvSpPr txBox="1"/>
          <p:nvPr/>
        </p:nvSpPr>
        <p:spPr>
          <a:xfrm>
            <a:off x="360217" y="1764145"/>
            <a:ext cx="42791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Установить защищенное соединение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Предусмотреть направления кибератак и защититься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Скрывать конфиденциальные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67725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Демонстрация интерфейса главной страницы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F80DFA-7C39-4654-92B1-018FC251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95" y="1192875"/>
            <a:ext cx="9636499" cy="514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6E63-1AE7-4349-BF16-4FAF5906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Лот и ставки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A172D-2237-476B-B89A-92A90DBEE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30" y="1161115"/>
            <a:ext cx="9357360" cy="499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1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065B-1719-4C42-BA67-EC1739D0D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Авторизация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AC709-F86D-4E34-937B-D74DF0215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65" y="1191482"/>
            <a:ext cx="9038121" cy="52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5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53CAA-4B29-4EE9-8FFE-62378FDD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Админ панель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75BAB5-DEC0-4F0E-9AC9-4A6AFEDEE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258892"/>
            <a:ext cx="5114976" cy="54162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25B238-81A1-4FF5-B93F-6C092F6BD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162" y="1226735"/>
            <a:ext cx="4971885" cy="544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09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C344-9825-4580-9E86-FAC8F24C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Экономическое обоснование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00AF9-466F-4574-AA53-77510B14D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Время затраченное на разработку 103 часа</a:t>
            </a:r>
          </a:p>
          <a:p>
            <a:endParaRPr lang="ru-RU" sz="2400" dirty="0"/>
          </a:p>
          <a:p>
            <a:r>
              <a:rPr lang="ru-RU" sz="2400" dirty="0"/>
              <a:t>Полная стоимость системы за первый годовой цикл - 338 000 руб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B696208-6E3F-470A-951B-D5E066B970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76180"/>
              </p:ext>
            </p:extLst>
          </p:nvPr>
        </p:nvGraphicFramePr>
        <p:xfrm>
          <a:off x="5365630" y="1772952"/>
          <a:ext cx="6826370" cy="504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0CDC70D-7BAE-4E0E-A9B1-6A63F9C6F6ED}"/>
              </a:ext>
            </a:extLst>
          </p:cNvPr>
          <p:cNvSpPr txBox="1"/>
          <p:nvPr/>
        </p:nvSpPr>
        <p:spPr>
          <a:xfrm>
            <a:off x="6772034" y="1331208"/>
            <a:ext cx="5184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Стоимость  разработки 154 000 рублей</a:t>
            </a:r>
          </a:p>
        </p:txBody>
      </p:sp>
    </p:spTree>
    <p:extLst>
      <p:ext uri="{BB962C8B-B14F-4D97-AF65-F5344CB8AC3E}">
        <p14:creationId xmlns:p14="http://schemas.microsoft.com/office/powerpoint/2010/main" val="1414820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DE8F-5638-47A5-AE65-770379BB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ru-RU" dirty="0"/>
              <a:t>Заключение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12656-2602-90CA-EAC9-818500F85F9A}"/>
              </a:ext>
            </a:extLst>
          </p:cNvPr>
          <p:cNvSpPr txBox="1"/>
          <p:nvPr/>
        </p:nvSpPr>
        <p:spPr>
          <a:xfrm>
            <a:off x="899884" y="1663788"/>
            <a:ext cx="100293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Выполненные задачи</a:t>
            </a:r>
            <a:br>
              <a:rPr lang="ru-RU" sz="2400" dirty="0"/>
            </a:b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Анализ предметной области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Определение ключевых требований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Определение функциональной структуры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Разработка прототипа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Проведено экономическое обоснование</a:t>
            </a:r>
          </a:p>
        </p:txBody>
      </p:sp>
    </p:spTree>
    <p:extLst>
      <p:ext uri="{BB962C8B-B14F-4D97-AF65-F5344CB8AC3E}">
        <p14:creationId xmlns:p14="http://schemas.microsoft.com/office/powerpoint/2010/main" val="285988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F707855-C815-4FF1-B493-8351700E1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8001" y="3867814"/>
            <a:ext cx="6332538" cy="1997341"/>
          </a:xfrm>
        </p:spPr>
        <p:txBody>
          <a:bodyPr/>
          <a:lstStyle/>
          <a:p>
            <a:r>
              <a:rPr lang="ru-RU" dirty="0"/>
              <a:t>Костяков Никита Андреевич, 4134к</a:t>
            </a:r>
          </a:p>
          <a:p>
            <a:r>
              <a:rPr lang="ru-RU" dirty="0"/>
              <a:t>Колесникова Светлана Ивановна - Руководитель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36CD1-7B54-434F-B5C0-1215E2D7992E}"/>
              </a:ext>
            </a:extLst>
          </p:cNvPr>
          <p:cNvSpPr txBox="1"/>
          <p:nvPr/>
        </p:nvSpPr>
        <p:spPr>
          <a:xfrm>
            <a:off x="3937000" y="2844225"/>
            <a:ext cx="4559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872730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122</TotalTime>
  <Words>139</Words>
  <Application>Microsoft Office PowerPoint</Application>
  <PresentationFormat>Widescreen</PresentationFormat>
  <Paragraphs>42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Wingdings</vt:lpstr>
      <vt:lpstr>Титульная страница</vt:lpstr>
      <vt:lpstr>Текстовые блоки</vt:lpstr>
      <vt:lpstr>Дополнительные блоки</vt:lpstr>
      <vt:lpstr>Разработка информационной системы онлайн-торгов коллекционными монетами</vt:lpstr>
      <vt:lpstr>Актуальность</vt:lpstr>
      <vt:lpstr>Цели и задачи </vt:lpstr>
      <vt:lpstr>Архитектура системы </vt:lpstr>
      <vt:lpstr>Функциональность </vt:lpstr>
      <vt:lpstr>Безопасность </vt:lpstr>
      <vt:lpstr>Демонстрация интерфейса главной страницы</vt:lpstr>
      <vt:lpstr>Лот и ставки</vt:lpstr>
      <vt:lpstr>Авторизация</vt:lpstr>
      <vt:lpstr>Админ панель</vt:lpstr>
      <vt:lpstr>Экономическое обоснование </vt:lpstr>
      <vt:lpstr>Заключение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Костяков Никита</cp:lastModifiedBy>
  <cp:revision>8</cp:revision>
  <dcterms:created xsi:type="dcterms:W3CDTF">2023-06-16T08:15:39Z</dcterms:created>
  <dcterms:modified xsi:type="dcterms:W3CDTF">2025-05-25T20:21:07Z</dcterms:modified>
  <cp:category/>
</cp:coreProperties>
</file>